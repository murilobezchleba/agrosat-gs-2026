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24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457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0058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365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0" y="1188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114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3657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21040" y="3474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256032"/>
            <a:ext cx="4023360" cy="347472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560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FIAP · INDÚSTRIA ESPACIAL 2026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7772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57200" y="14630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800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1371600" y="2304288"/>
            <a:ext cx="6400800" cy="27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95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 SOLUTIONS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SATCONNECT — INFRAESTRUTURA PARA A NOVA ECONOMIA ESPACIAL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401568"/>
            <a:ext cx="1828800" cy="1170432"/>
          </a:xfrm>
          <a:prstGeom prst="rect">
            <a:avLst/>
          </a:prstGeom>
          <a:solidFill>
            <a:srgbClr val="0F0F2A"/>
          </a:solidFill>
          <a:ln w="12700">
            <a:solidFill>
              <a:srgbClr val="E8006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456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4059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em Grupo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3401568"/>
            <a:ext cx="1828800" cy="1170432"/>
          </a:xfrm>
          <a:prstGeom prst="rect">
            <a:avLst/>
          </a:prstGeom>
          <a:solidFill>
            <a:srgbClr val="0F0F2A"/>
          </a:solidFill>
          <a:ln w="12700">
            <a:solidFill>
              <a:srgbClr val="E8006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60320" y="3456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56032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4059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· 2026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401568"/>
            <a:ext cx="1828800" cy="1170432"/>
          </a:xfrm>
          <a:prstGeom prst="rect">
            <a:avLst/>
          </a:prstGeom>
          <a:solidFill>
            <a:srgbClr val="0F0F2A"/>
          </a:solidFill>
          <a:ln w="12700">
            <a:solidFill>
              <a:srgbClr val="E8006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17720" y="3456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📦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61772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7720" y="4059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75120" y="3401568"/>
            <a:ext cx="1828800" cy="1170432"/>
          </a:xfrm>
          <a:prstGeom prst="rect">
            <a:avLst/>
          </a:prstGeom>
          <a:solidFill>
            <a:srgbClr val="0F0F2A"/>
          </a:solidFill>
          <a:ln w="12700">
            <a:solidFill>
              <a:srgbClr val="E8006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75120" y="3456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🛰️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7512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75120" y="4059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Gabriel Arcanjo · FIAP · Todos os direitos reservados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SatConnect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9692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PARA A NOVA ECONOMIA ESPACIAL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335024"/>
            <a:ext cx="5212080" cy="3456432"/>
          </a:xfrm>
          <a:prstGeom prst="rect">
            <a:avLst/>
          </a:prstGeom>
          <a:solidFill>
            <a:srgbClr val="0F0F2A"/>
          </a:solidFill>
          <a:ln w="6350">
            <a:solidFill>
              <a:srgbClr val="5A6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26464"/>
            <a:ext cx="498348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SatConnect </a:t>
            </a: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startup brasileira especializada em processamento de dados de satélites de observação da Terra.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parceria com a Carta Internacional Space &amp; Major Disasters, seus sistemas monitoram desmatamento, apoiam o agronegócio de precisão e coordenam respostas a desastres naturais em tempo real.
</a:t>
            </a: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opera em três frentes:
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Satélites de baixa órbita para monitoramento ambiental
→  Plataforma SaaS de análise de imagens para agronegócio
→  API de dados climáticos integrada a sistemas de gestão de risco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aceleração do negócio, o CTO identificou um gargalo crítico: </a:t>
            </a:r>
            <a:r>
              <a:rPr lang="en-US" sz="105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infraestrutura de rede foi montada de forma improvisada e não documenta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da. Não há padronização de IPs, os protocolos de acesso remoto são inseguros e os serviços internos não estão corretamente configurados.
</a:t>
            </a: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SatConnect abriu uma licitação e selecionou sua equipe para refazer tudo.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23560" y="201168"/>
            <a:ext cx="3310128" cy="4736592"/>
          </a:xfrm>
          <a:prstGeom prst="rect">
            <a:avLst/>
          </a:prstGeom>
          <a:solidFill>
            <a:srgbClr val="0F0F2A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23560" y="201168"/>
            <a:ext cx="3310128" cy="3657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01168"/>
            <a:ext cx="3310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EMPRESA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42432" y="658368"/>
            <a:ext cx="3072384" cy="960120"/>
          </a:xfrm>
          <a:prstGeom prst="rect">
            <a:avLst/>
          </a:prstGeom>
          <a:solidFill>
            <a:srgbClr val="12122E"/>
          </a:solidFill>
          <a:ln w="5080">
            <a:solidFill>
              <a:srgbClr val="5A6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9008" y="749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7223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63640" y="10058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— Sala de Controle de Missão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estações de trabalho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42432" y="1700784"/>
            <a:ext cx="3072384" cy="960120"/>
          </a:xfrm>
          <a:prstGeom prst="rect">
            <a:avLst/>
          </a:prstGeom>
          <a:solidFill>
            <a:srgbClr val="12122E"/>
          </a:solidFill>
          <a:ln w="5080">
            <a:solidFill>
              <a:srgbClr val="5A6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17647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63640" y="204825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 orbitais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de alta disponibilidade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42432" y="2743200"/>
            <a:ext cx="3072384" cy="960120"/>
          </a:xfrm>
          <a:prstGeom prst="rect">
            <a:avLst/>
          </a:prstGeom>
          <a:solidFill>
            <a:srgbClr val="12122E"/>
          </a:solidFill>
          <a:ln w="5080">
            <a:solidFill>
              <a:srgbClr val="5A6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2807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 REMOTO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63640" y="309067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Campinas — Análise de campo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analistas ambientais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42432" y="3785616"/>
            <a:ext cx="3072384" cy="960120"/>
          </a:xfrm>
          <a:prstGeom prst="rect">
            <a:avLst/>
          </a:prstGeom>
          <a:solidFill>
            <a:srgbClr val="12122E"/>
          </a:solidFill>
          <a:ln w="5080">
            <a:solidFill>
              <a:srgbClr val="5A60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63640" y="38496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RELACIONADOS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63640" y="41330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9 · ODS 11 · ODS 13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2 · ODS 8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" y="486460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A SatConnect não tem tolerância a downtime. Cada hora offline representa perda de dados de satélite.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PAPEL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foi contratado.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5303520" cy="1234440"/>
          </a:xfrm>
          <a:prstGeom prst="rect">
            <a:avLst/>
          </a:prstGeom>
          <a:solidFill>
            <a:srgbClr val="0F0F2A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530352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78992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ENGENHEIRO(A) DE REDES — CONSULTOR SÊNIOR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4630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equipe foi selecionada pelo CTO da SatConnect para redesenhar toda a infraestrutura de rede da empresa — do zero. Você tem autoridade técnica total para tomar decisões de arquitetura, desde que sejam justificadas e documentadas.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2423160"/>
            <a:ext cx="5303520" cy="256032"/>
          </a:xfrm>
          <a:prstGeom prst="rect">
            <a:avLst/>
          </a:prstGeom>
          <a:solidFill>
            <a:srgbClr val="12122E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24231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PAPÉIS NA EQUIPE (definam entre si):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2724912"/>
            <a:ext cx="5303520" cy="393192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724912"/>
            <a:ext cx="3840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🗂️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276148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de Rede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" y="2926080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topologia, tipos de rede e dispositivos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3154680"/>
            <a:ext cx="5303520" cy="393192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154680"/>
            <a:ext cx="3840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319125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IP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3355848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 endereçamento, máscaras e sub-redes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3584448"/>
            <a:ext cx="5303520" cy="393192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584448"/>
            <a:ext cx="3840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" y="362102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Protocolos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3785616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e justifica protocolos e segurança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4014216"/>
            <a:ext cx="5303520" cy="393192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4014216"/>
            <a:ext cx="3840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🛠️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40507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de Impl.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" y="4215384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e testa a rede no Packet Tracer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4443984"/>
            <a:ext cx="5303520" cy="393192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4443984"/>
            <a:ext cx="3840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" y="44805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Writer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" y="4645152"/>
            <a:ext cx="4663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 relatório e apresentação final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42432" y="1078992"/>
            <a:ext cx="3200400" cy="3931920"/>
          </a:xfrm>
          <a:prstGeom prst="rect">
            <a:avLst/>
          </a:prstGeom>
          <a:solidFill>
            <a:srgbClr val="0F0F2A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42432" y="1078992"/>
            <a:ext cx="320040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1078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CLIENTE ESPERA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33872" y="1508760"/>
            <a:ext cx="3017520" cy="475488"/>
          </a:xfrm>
          <a:prstGeom prst="rect">
            <a:avLst/>
          </a:prstGeom>
          <a:solidFill>
            <a:srgbClr val="12122E"/>
          </a:solidFill>
          <a:ln w="5080">
            <a:solidFill>
              <a:srgbClr val="5A60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0448" y="150876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63640" y="150876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técnica completa da rede proposta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33872" y="2057400"/>
            <a:ext cx="3017520" cy="475488"/>
          </a:xfrm>
          <a:prstGeom prst="rect">
            <a:avLst/>
          </a:prstGeom>
          <a:solidFill>
            <a:srgbClr val="12122E"/>
          </a:solidFill>
          <a:ln w="5080">
            <a:solidFill>
              <a:srgbClr val="5A60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0448" y="20574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63640" y="205740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topologia com todos os dispositivos e IPs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33872" y="2606040"/>
            <a:ext cx="3017520" cy="475488"/>
          </a:xfrm>
          <a:prstGeom prst="rect">
            <a:avLst/>
          </a:prstGeom>
          <a:solidFill>
            <a:srgbClr val="12122E"/>
          </a:solidFill>
          <a:ln w="5080">
            <a:solidFill>
              <a:srgbClr val="5A60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70448" y="260604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63640" y="260604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endereçamento IP padronizada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33872" y="3154680"/>
            <a:ext cx="3017520" cy="475488"/>
          </a:xfrm>
          <a:prstGeom prst="rect">
            <a:avLst/>
          </a:prstGeom>
          <a:solidFill>
            <a:srgbClr val="12122E"/>
          </a:solidFill>
          <a:ln w="5080">
            <a:solidFill>
              <a:srgbClr val="5A60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70448" y="315468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63640" y="315468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das escolhas de protocolos e segurança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33872" y="3703320"/>
            <a:ext cx="3017520" cy="475488"/>
          </a:xfrm>
          <a:prstGeom prst="rect">
            <a:avLst/>
          </a:prstGeom>
          <a:solidFill>
            <a:srgbClr val="12122E"/>
          </a:solidFill>
          <a:ln w="5080">
            <a:solidFill>
              <a:srgbClr val="5A60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70448" y="37033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263640" y="370332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100% funcional no Cisco Packet Tracer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833872" y="4251960"/>
            <a:ext cx="3017520" cy="475488"/>
          </a:xfrm>
          <a:prstGeom prst="rect">
            <a:avLst/>
          </a:prstGeom>
          <a:solidFill>
            <a:srgbClr val="12122E"/>
          </a:solidFill>
          <a:ln w="5080">
            <a:solidFill>
              <a:srgbClr val="5A60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70448" y="425196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📣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63640" y="425196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5 min para a diretoria da empresa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6032" y="491947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3 a 5 pessoas · Definidos pelo professor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PROJETO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fases · 1 projeto completo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572768" cy="3520440"/>
          </a:xfrm>
          <a:prstGeom prst="rect">
            <a:avLst/>
          </a:prstGeom>
          <a:solidFill>
            <a:srgbClr val="0F0F2A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572768" cy="5029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" y="212140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&amp; PLANEJAMENTO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69748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 mapear a rede da SatConnect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1024128" cy="2926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01568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47088" y="2606040"/>
            <a:ext cx="201168" cy="54864"/>
          </a:xfrm>
          <a:prstGeom prst="rect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8256" y="1051560"/>
            <a:ext cx="1572768" cy="3520440"/>
          </a:xfrm>
          <a:prstGeom prst="rect">
            <a:avLst/>
          </a:prstGeom>
          <a:solidFill>
            <a:srgbClr val="0F0F2A"/>
          </a:solidFill>
          <a:ln w="12700">
            <a:solidFill>
              <a:srgbClr val="E8006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48256" y="1051560"/>
            <a:ext cx="1572768" cy="502920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10515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48256" y="16002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121408" y="212140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ENDEREÇAMENTO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21408" y="269748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 calcular toda a estrutura IP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22576" y="3401568"/>
            <a:ext cx="1024128" cy="292608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22576" y="3401568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21024" y="2606040"/>
            <a:ext cx="201168" cy="54864"/>
          </a:xfrm>
          <a:prstGeom prst="rect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22192" y="1051560"/>
            <a:ext cx="1572768" cy="3520440"/>
          </a:xfrm>
          <a:prstGeom prst="rect">
            <a:avLst/>
          </a:prstGeom>
          <a:solidFill>
            <a:srgbClr val="0F0F2A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22192" y="1051560"/>
            <a:ext cx="1572768" cy="502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10515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22192" y="16002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895344" y="212140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&amp; SEGURANÇA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95344" y="269748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e justificar os protocolos usados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96512" y="3401568"/>
            <a:ext cx="1024128" cy="2926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6512" y="3401568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94960" y="2606040"/>
            <a:ext cx="201168" cy="54864"/>
          </a:xfrm>
          <a:prstGeom prst="rect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96128" y="1051560"/>
            <a:ext cx="1572768" cy="3520440"/>
          </a:xfrm>
          <a:prstGeom prst="rect">
            <a:avLst/>
          </a:prstGeom>
          <a:solidFill>
            <a:srgbClr val="0F0F2A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96128" y="1051560"/>
            <a:ext cx="1572768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10515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96128" y="16002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🛠️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669280" y="212140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69280" y="269748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testar a rede no Packet Tracer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870448" y="3401568"/>
            <a:ext cx="1024128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3401568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68896" y="2606040"/>
            <a:ext cx="201168" cy="54864"/>
          </a:xfrm>
          <a:prstGeom prst="rect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70064" y="1051560"/>
            <a:ext cx="1572768" cy="3520440"/>
          </a:xfrm>
          <a:prstGeom prst="rect">
            <a:avLst/>
          </a:prstGeom>
          <a:solidFill>
            <a:srgbClr val="0F0F2A"/>
          </a:solidFill>
          <a:ln w="12700">
            <a:solidFill>
              <a:srgbClr val="B0B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370064" y="1051560"/>
            <a:ext cx="1572768" cy="502920"/>
          </a:xfrm>
          <a:prstGeom prst="rect">
            <a:avLst/>
          </a:prstGeom>
          <a:solidFill>
            <a:srgbClr val="B0B8D0"/>
          </a:solidFill>
          <a:ln w="12700">
            <a:solidFill>
              <a:srgbClr val="B0B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70064" y="10515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70064" y="16002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📣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443216" y="212140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&amp; PITCH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43216" y="269748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 apresentar para a diretoria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644384" y="3401568"/>
            <a:ext cx="1024128" cy="292608"/>
          </a:xfrm>
          <a:prstGeom prst="rect">
            <a:avLst/>
          </a:prstGeom>
          <a:solidFill>
            <a:srgbClr val="B0B8D0"/>
          </a:solidFill>
          <a:ln w="12700">
            <a:solidFill>
              <a:srgbClr val="B0B8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44384" y="3401568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6032" y="4663440"/>
            <a:ext cx="8686800" cy="384048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466344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TOTAL: 100 pts  ·  Conversão para a nota: ÷ 10  =  0 a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28016"/>
            <a:ext cx="1051560" cy="10058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56032" y="128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6949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&amp; PLANEJAMENTO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Mapeie a realidade da SatConnect e defina as bases do projeto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877824"/>
            <a:ext cx="8686800" cy="27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960120"/>
            <a:ext cx="8686800" cy="1261872"/>
          </a:xfrm>
          <a:prstGeom prst="rect">
            <a:avLst/>
          </a:prstGeom>
          <a:solidFill>
            <a:srgbClr val="0F0F2A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960120"/>
            <a:ext cx="475488" cy="12618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1887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75320" y="1033272"/>
            <a:ext cx="594360" cy="2560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03327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04672" y="101498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— MAPA DE CLASSIFICAÇÃO DE REDE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1289304"/>
            <a:ext cx="7315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diagrama (pode ser desenhado ou no PT) mostrando como cada unidade da SatConnect se conecta. Para cada segmento, identifique e justifique o tipo de rede utilizado: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Sede SP ↔ Data Center  • Equipe interna (mesmo andar)  • Wi-Fi da sala de reunião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Armazenamento de imagens de satélite  • Isolamento do setor de segurança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Acesso remoto do campo para a sede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basta nomear — documente o PORQUÊ de cada escolha.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04288"/>
            <a:ext cx="8686800" cy="1261872"/>
          </a:xfrm>
          <a:prstGeom prst="rect">
            <a:avLst/>
          </a:prstGeom>
          <a:solidFill>
            <a:srgbClr val="0F0F2A"/>
          </a:solidFill>
          <a:ln w="12700">
            <a:solidFill>
              <a:srgbClr val="E8006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304288"/>
            <a:ext cx="475488" cy="1261872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3288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75320" y="2377440"/>
            <a:ext cx="594360" cy="256032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3774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" y="235915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INVENTÁRIO DE DISPOSITIVOS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" y="2633472"/>
            <a:ext cx="7315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unidade da SatConnect, defina os dispositivos necessários (Switch, Roteador, AP, Firewall) e justifique tecnicamente a escolha. Inclua: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Função do dispositivo naquele contexto específico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 que esse dispositivo e não outro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Diferença entre Modem e Roteador (importante para o cliente entender)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sugerido: tabela dispositivo × unidade × justificativa.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648456"/>
            <a:ext cx="8686800" cy="1261872"/>
          </a:xfrm>
          <a:prstGeom prst="rect">
            <a:avLst/>
          </a:prstGeom>
          <a:solidFill>
            <a:srgbClr val="0F0F2A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648456"/>
            <a:ext cx="475488" cy="12618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87705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75320" y="3721608"/>
            <a:ext cx="594360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37216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" y="370332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— ANÁLISE OSI × TCP/IP APLICADA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" y="3977640"/>
            <a:ext cx="7315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CTO quer entender como os dados da SatConnect trafegam na rede. Produza uma análise mostrando: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Quando um analista acessa o dashboard via HTTP — trace o caminho camada por camada (OSI)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 PDU é gerado em cada etapa e o que ele carrega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 qual camada um problema específico (ex: cabo cortado, DNS falhando) estaria localizado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exemplos reais da infraestrutura que você está projetando.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5001768"/>
            <a:ext cx="8686800" cy="137160"/>
          </a:xfrm>
          <a:prstGeom prst="rect">
            <a:avLst/>
          </a:prstGeom>
          <a:solidFill>
            <a:srgbClr val="12122E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5001768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20 pts  |  Entregável: Documento técnico (PDF ou Google Docs) + Diagrama da topologia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28016"/>
            <a:ext cx="1051560" cy="1005840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56032" y="128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6949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ENDEREÇAMENTO IP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Defina, calcule e documente toda a estrutura de IPs da empresa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877824"/>
            <a:ext cx="8686800" cy="27432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960120"/>
            <a:ext cx="8686800" cy="1261872"/>
          </a:xfrm>
          <a:prstGeom prst="rect">
            <a:avLst/>
          </a:prstGeom>
          <a:solidFill>
            <a:srgbClr val="0F0F2A"/>
          </a:solidFill>
          <a:ln w="12700">
            <a:solidFill>
              <a:srgbClr val="E8006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960120"/>
            <a:ext cx="475488" cy="1261872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1887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75320" y="1033272"/>
            <a:ext cx="594360" cy="256032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03327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04672" y="101498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TABELA DE ENDEREÇAMENTO COMPLETA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1289304"/>
            <a:ext cx="7315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 a tabela de endereçamento de toda a rede da SatConnect. Para cada dispositivo (Roteador, Servidor, PCs), documente: Endereço IP · Máscara de Sub-rede · Gateway padrão · Endereço de Rede · Broadcast.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faixas privadas adequadas a cada unidade e justifique a escolha da classe de IP utilizada (ex: por que usar Classe C 192.168.x nesse contexto?).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04288"/>
            <a:ext cx="8686800" cy="1261872"/>
          </a:xfrm>
          <a:prstGeom prst="rect">
            <a:avLst/>
          </a:prstGeom>
          <a:solidFill>
            <a:srgbClr val="0F0F2A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304288"/>
            <a:ext cx="475488" cy="12618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3288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75320" y="2377440"/>
            <a:ext cx="594360" cy="2560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3774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" y="235915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CONVERSÃO BINÁRIA E PARÂMETROS DE REDE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" y="2633472"/>
            <a:ext cx="7315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Demonstre o raciocínio técnico por trás dos IPs escolhidos. Para pelo menos 3 endereços-chave do projeto: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Converta de decimal → binário (mostre a tabela de pesos: 128 · 64 · 32 · 16 · 8 · 4 · 2 · 1)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 cada IP com máscara 255.255.255.0: identifique o Endereço de Rede, o Broadcast e o Gateway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campo deve mostrar que você entende o conceito, não apenas usou uma calculadora.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648456"/>
            <a:ext cx="8686800" cy="1261872"/>
          </a:xfrm>
          <a:prstGeom prst="rect">
            <a:avLst/>
          </a:prstGeom>
          <a:solidFill>
            <a:srgbClr val="0F0F2A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648456"/>
            <a:ext cx="475488" cy="12618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87705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75320" y="3721608"/>
            <a:ext cx="594360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37216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" y="370332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CLASSIFICAÇÃO E ANÁLISE DE IPs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" y="3977640"/>
            <a:ext cx="7315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CTO precisa de um inventário dos IPs da empresa separando público de privado. Para cada IP abaixo, identifique: Classe (A, B ou C) · Privado ou Público · Faixa a que pertence: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192.168.10.1    🟢 10.0.5.20    🔴 172.16.4.100    ⚪ 8.8.8.8    🟡 200.100.50.1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SatConnect deve usar exclusivamente IPs privados em sua rede interna? Justifique.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5001768"/>
            <a:ext cx="8686800" cy="137160"/>
          </a:xfrm>
          <a:prstGeom prst="rect">
            <a:avLst/>
          </a:prstGeom>
          <a:solidFill>
            <a:srgbClr val="12122E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5001768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20 pts  |  Entregável: Tabela de endereçamento + demonstração de conversões + classificação de IPs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28016"/>
            <a:ext cx="1051560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56032" y="128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6949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&amp; SEGURANÇA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 quais protocolos a SatConnect vai usar — e por quê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877824"/>
            <a:ext cx="8686800" cy="27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960120"/>
            <a:ext cx="8686800" cy="1261872"/>
          </a:xfrm>
          <a:prstGeom prst="rect">
            <a:avLst/>
          </a:prstGeom>
          <a:solidFill>
            <a:srgbClr val="0F0F2A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960120"/>
            <a:ext cx="475488" cy="12618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1887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75320" y="1033272"/>
            <a:ext cx="594360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03327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04672" y="101498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— MAPA DE PROTOCOLOS POR SERVIÇO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1289304"/>
            <a:ext cx="7315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SatConnect precisa de um documento que mostre qual protocolo é usado para cada função da empresa. Construa uma tabela mapeando: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Acesso ao dashboard web  • Transferência de arquivos de satélite  • Administração remota dos servidores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Resolução de nomes internos  • E-mail da equipe  • Acesso legado a equipamentos de campo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protocolo: nome, função, camada TCP/IP, porta e se é seguro ou não.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04288"/>
            <a:ext cx="8686800" cy="1261872"/>
          </a:xfrm>
          <a:prstGeom prst="rect">
            <a:avLst/>
          </a:prstGeom>
          <a:solidFill>
            <a:srgbClr val="0F0F2A"/>
          </a:solidFill>
          <a:ln w="12700">
            <a:solidFill>
              <a:srgbClr val="E8006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304288"/>
            <a:ext cx="475488" cy="1261872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3288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75320" y="2377440"/>
            <a:ext cx="594360" cy="256032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3774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" y="235915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— PARECER DE SEGURANÇA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" y="2633472"/>
            <a:ext cx="7315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de segurança identificou que a rede atual usa Telnet e HTTP sem criptografia. Como engenheiro responsável, emita um parecer técnico recomendando as substituições e justificando: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 que Telnet é inadequado para a SatConnect? Qual o risco concreto?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 que HTTP puro não deve ser usado no painel de controle de satélites?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protocolos você substitui e por quê eles resolvem o problema?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como se fosse um documento oficial para o CTO.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648456"/>
            <a:ext cx="8686800" cy="1261872"/>
          </a:xfrm>
          <a:prstGeom prst="rect">
            <a:avLst/>
          </a:prstGeom>
          <a:solidFill>
            <a:srgbClr val="0F0F2A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648456"/>
            <a:ext cx="475488" cy="12618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87705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75320" y="3721608"/>
            <a:ext cx="594360" cy="2560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37216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" y="370332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— TCP vs UDP: DECISÃO TÉCNICA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" y="3977640"/>
            <a:ext cx="7315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da SatConnect transmite dois tipos de dados críticos: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Imagens de alta resolução de satélite (grandes volumes, não podem ser perdidos)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Telemetria em tempo real de sensores orbitais (pequenos pacotes, latência mínima)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 qual protocolo de transporte (TCP ou UDP) usar para cada caso. Justifique com base nas características técnicas dos protocolos e nas necessidades operacionais da empresa.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5001768"/>
            <a:ext cx="8686800" cy="137160"/>
          </a:xfrm>
          <a:prstGeom prst="rect">
            <a:avLst/>
          </a:prstGeom>
          <a:solidFill>
            <a:srgbClr val="12122E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5001768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20 pts  |  Entregável: Tabela de protocolos + Parecer de segurança + Análise TCP vs UDP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28016"/>
            <a:ext cx="1051560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56032" y="128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6949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e entregue a rede da SatConnect funcionando no Cisco Packet Tracer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877824"/>
            <a:ext cx="8686800" cy="274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969264"/>
            <a:ext cx="489204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9692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REQUISITOS MÍNIMOS DA REDE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280160"/>
            <a:ext cx="4892040" cy="475488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28016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" y="13167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 2911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" y="1508760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unidade — interliga as duas redes (Sede + Data Center)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1810512"/>
            <a:ext cx="4892040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81051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" y="18470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2960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" y="2039112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2 — um por segmento de rede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2340864"/>
            <a:ext cx="4892040" cy="475488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3408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" y="2377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" y="2569464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+ HTTP + FTP configurados e ativos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2871216"/>
            <a:ext cx="4892040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87121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" y="29077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Estações (PCs)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" y="3099816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4 — distribuídas entre os segmentos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3401568"/>
            <a:ext cx="4892040" cy="475488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34015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📶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" y="34381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Cabeamento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" y="3630168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Straight-Through (PCs→SW, SW→Router)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032" y="3931920"/>
            <a:ext cx="4892040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39319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" y="39684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Redes distintas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" y="4160520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192.168.10.0/24 (Sede) e 192.168.20.0/24 (DC)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285232" y="969264"/>
            <a:ext cx="3657600" cy="274320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58384" y="9692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EVIDÊNCIAS OBRIGATÓRIAS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85232" y="1280160"/>
            <a:ext cx="3657600" cy="475488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128016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724144" y="1316736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entre redes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24144" y="1508760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da Sede pingando PC do Data Center com sucesso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285232" y="1810512"/>
            <a:ext cx="3657600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181051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724144" y="1847088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funcionando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24144" y="2039112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nslookup satconnect.local retorna o IP correto do servidor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285232" y="2340864"/>
            <a:ext cx="3657600" cy="475488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21808" y="23408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724144" y="2377440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no browser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24144" y="2569464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http://satconnect.local abre página customizada da empresa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285232" y="2871216"/>
            <a:ext cx="3657600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21808" y="287121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724144" y="2907792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com login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24144" y="3099816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FTP com usuário criado + comandos dir e get testados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285232" y="3401568"/>
            <a:ext cx="3657600" cy="475488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1808" y="34015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724144" y="3438144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 via CLI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724144" y="3630168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configuradas e ativas (show interfaces)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285232" y="3931920"/>
            <a:ext cx="3657600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21808" y="39319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724144" y="3968496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(bônus)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724144" y="4160520"/>
            <a:ext cx="3145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Telnet ao roteador configurado e testado via PC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56032" y="4498848"/>
            <a:ext cx="86868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" y="449884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ROTEADOR  →  enable  →  configure terminal  →  interface Fa0/0  →  ip address 192.168.10.1 255.255.255.0  →  no shutdown  →  exit  →  interface Fa0/1  →  ip address 192.168.20.1 255.255.255.0  →  no shutdown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56032" y="5001768"/>
            <a:ext cx="8686800" cy="137160"/>
          </a:xfrm>
          <a:prstGeom prst="rect">
            <a:avLst/>
          </a:prstGeom>
          <a:solidFill>
            <a:srgbClr val="12122E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9184" y="5001768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30 pts  |  Entregável: Arquivo .pkt + prints de cada teste (PDF ou ZIP nomeado corretamente)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B8D0"/>
          </a:solidFill>
          <a:ln w="12700">
            <a:solidFill>
              <a:srgbClr val="B0B8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28016"/>
            <a:ext cx="1051560" cy="1005840"/>
          </a:xfrm>
          <a:prstGeom prst="rect">
            <a:avLst/>
          </a:prstGeom>
          <a:solidFill>
            <a:srgbClr val="B0B8D0"/>
          </a:solidFill>
          <a:ln w="12700">
            <a:solidFill>
              <a:srgbClr val="B0B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56032" y="128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6949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&amp; PITCH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 suas decisões técnicas para o cliente — a rede existe, agora venda o projeto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877824"/>
            <a:ext cx="8686800" cy="27432"/>
          </a:xfrm>
          <a:prstGeom prst="rect">
            <a:avLst/>
          </a:prstGeom>
          <a:solidFill>
            <a:srgbClr val="B0B8D0"/>
          </a:solidFill>
          <a:ln w="12700">
            <a:solidFill>
              <a:srgbClr val="B0B8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969264"/>
            <a:ext cx="5212080" cy="3931920"/>
          </a:xfrm>
          <a:prstGeom prst="rect">
            <a:avLst/>
          </a:prstGeom>
          <a:solidFill>
            <a:srgbClr val="0F0F2A"/>
          </a:solidFill>
          <a:ln w="12700">
            <a:solidFill>
              <a:srgbClr val="B0B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969264"/>
            <a:ext cx="5212080" cy="320040"/>
          </a:xfrm>
          <a:prstGeom prst="rect">
            <a:avLst/>
          </a:prstGeom>
          <a:solidFill>
            <a:srgbClr val="B0B8D0"/>
          </a:solidFill>
          <a:ln w="12700">
            <a:solidFill>
              <a:srgbClr val="B0B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969264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ESTRUTURA DO RELATÓRIO TÉCNICO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353312"/>
            <a:ext cx="347472" cy="4754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353312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" y="1353312"/>
            <a:ext cx="4681728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138988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" y="159105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projeto em no máximo 1 página — o que foi feito e por quê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1920240"/>
            <a:ext cx="347472" cy="4754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920240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944" y="1920240"/>
            <a:ext cx="4681728" cy="475488"/>
          </a:xfrm>
          <a:prstGeom prst="rect">
            <a:avLst/>
          </a:prstGeom>
          <a:solidFill>
            <a:srgbClr val="0A0A20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195681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 Rede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" y="21579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classificação, dispositivos escolhidos e justificativas (Fase 1)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2487168"/>
            <a:ext cx="347472" cy="4754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48716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" y="2487168"/>
            <a:ext cx="4681728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25237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IP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8096" y="27249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endereçamento + demonstração dos cálculos (Fase 2)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3054096"/>
            <a:ext cx="347472" cy="4754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54096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" y="3054096"/>
            <a:ext cx="4681728" cy="475488"/>
          </a:xfrm>
          <a:prstGeom prst="rect">
            <a:avLst/>
          </a:prstGeom>
          <a:solidFill>
            <a:srgbClr val="0A0A20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0906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8096" y="32918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protocolos + parecer de segurança + decisão TCP/UDP (Fase 3)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7472" y="3621024"/>
            <a:ext cx="347472" cy="4754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621024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4944" y="3621024"/>
            <a:ext cx="4681728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36576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8096" y="38587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do PT + print de cada teste realizado (Fase 4)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" y="4187952"/>
            <a:ext cx="347472" cy="4754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187952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4944" y="4187952"/>
            <a:ext cx="4681728" cy="475488"/>
          </a:xfrm>
          <a:prstGeom prst="rect">
            <a:avLst/>
          </a:prstGeom>
          <a:solidFill>
            <a:srgbClr val="0A0A20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" y="4224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8096" y="44256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projeto resolve para a SatConnect? Qual o impacto real?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50992" y="969264"/>
            <a:ext cx="3291840" cy="3931920"/>
          </a:xfrm>
          <a:prstGeom prst="rect">
            <a:avLst/>
          </a:prstGeom>
          <a:solidFill>
            <a:srgbClr val="0F0F2A"/>
          </a:solidFill>
          <a:ln w="12700">
            <a:solidFill>
              <a:srgbClr val="E8006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650992" y="969264"/>
            <a:ext cx="3291840" cy="320040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24144" y="96926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PITCH — 5 MINUTOS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42432" y="1353312"/>
            <a:ext cx="3108960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79008" y="135331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1 min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20256" y="1353312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equipe e do problema identificado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742432" y="1920240"/>
            <a:ext cx="3108960" cy="475488"/>
          </a:xfrm>
          <a:prstGeom prst="rect">
            <a:avLst/>
          </a:prstGeom>
          <a:solidFill>
            <a:srgbClr val="0A0A20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79008" y="19202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1 min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620256" y="192024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projetada — mostre a topologia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742432" y="2487168"/>
            <a:ext cx="3108960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79008" y="248716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1 min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620256" y="2487168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decisões técnicas mais importantes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742432" y="3054096"/>
            <a:ext cx="3108960" cy="475488"/>
          </a:xfrm>
          <a:prstGeom prst="rect">
            <a:avLst/>
          </a:prstGeom>
          <a:solidFill>
            <a:srgbClr val="0A0A20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79008" y="305409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1 min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620256" y="3054096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vivo: ping + browser + FTP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742432" y="3621024"/>
            <a:ext cx="3108960" cy="475488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79008" y="362102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30s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20256" y="3621024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para a SatConnect e ODS relacionados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742432" y="4187952"/>
            <a:ext cx="3108960" cy="475488"/>
          </a:xfrm>
          <a:prstGeom prst="rect">
            <a:avLst/>
          </a:prstGeom>
          <a:solidFill>
            <a:srgbClr val="0A0A20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79008" y="418795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30s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620256" y="4187952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— o que essa rede entrega de valor?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56032" y="5001768"/>
            <a:ext cx="8686800" cy="137160"/>
          </a:xfrm>
          <a:prstGeom prst="rect">
            <a:avLst/>
          </a:prstGeom>
          <a:solidFill>
            <a:srgbClr val="12122E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9184" y="5001768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10 pts  |  Entregável: Relatório PDF + Apresentação (slides opcionais) + 5 min de pitch em aula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RUBRICA DE AVALIAÇÃO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diferencia um projeto nota 10 de um projeto mediano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8686800" cy="27432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05840"/>
            <a:ext cx="2286000" cy="329184"/>
          </a:xfrm>
          <a:prstGeom prst="rect">
            <a:avLst/>
          </a:prstGeom>
          <a:solidFill>
            <a:srgbClr val="E8006E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0058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42032" y="1005840"/>
            <a:ext cx="1965960" cy="329184"/>
          </a:xfrm>
          <a:prstGeom prst="rect">
            <a:avLst/>
          </a:prstGeom>
          <a:solidFill>
            <a:srgbClr val="06D6A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005840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 EXCELENTE (100%)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07992" y="1005840"/>
            <a:ext cx="1965960" cy="329184"/>
          </a:xfrm>
          <a:prstGeom prst="rect">
            <a:avLst/>
          </a:prstGeom>
          <a:solidFill>
            <a:srgbClr val="FFD166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005840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 ADEQUADO (60-80%)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73952" y="1005840"/>
            <a:ext cx="1965960" cy="329184"/>
          </a:xfrm>
          <a:prstGeom prst="rect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005840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INSUFICIENTE (&lt;50%)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371600"/>
            <a:ext cx="228600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137160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técnica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(Fases 1–3)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42032" y="1371600"/>
            <a:ext cx="196596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6896" y="137160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escolhas justificadas com embasamento técnico real e exemplos do contexto da SatConnect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507992" y="1371600"/>
            <a:ext cx="196596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137160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Maioria das escolhas justificadas, com algumas lacunas ou justificativas superficiais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473952" y="1371600"/>
            <a:ext cx="196596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137160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genéricas sem conexão com o projeto, ou incompletas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56032" y="2103120"/>
            <a:ext cx="228600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210312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Endereçamento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(Fase 2)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42032" y="2103120"/>
            <a:ext cx="1965960" cy="685800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96896" y="210312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completa, conversões demonstradas passo a passo, classificação de IPs correta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507992" y="2103120"/>
            <a:ext cx="1965960" cy="685800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210312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presente com poucos erros, conversões com falhas pontuais ou incompletas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473952" y="2103120"/>
            <a:ext cx="1965960" cy="685800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28816" y="210312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incompleta, sem conversões, ou com erros sistemáticos de endereçamento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56032" y="2834640"/>
            <a:ext cx="228600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283464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(Fase 4)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42032" y="2834640"/>
            <a:ext cx="196596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96896" y="283464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100% funcional, todos os serviços ativos, todos os testes com evidência em print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507992" y="2834640"/>
            <a:ext cx="196596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2856" y="283464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funcional com alguns serviços faltando ou sem evidências de alguns testes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473952" y="2834640"/>
            <a:ext cx="196596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8816" y="283464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incompleta, conectividade falha ou sem evidências de funcionamento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256032" y="3566160"/>
            <a:ext cx="228600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661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(Fase 5)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42032" y="3566160"/>
            <a:ext cx="1965960" cy="685800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96896" y="356616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claro, pitch objetivo e demo ao vivo sem falhas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4507992" y="3566160"/>
            <a:ext cx="1965960" cy="685800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62856" y="356616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com lacunas, pitch com informações faltando ou demo parcial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473952" y="3566160"/>
            <a:ext cx="1965960" cy="685800"/>
          </a:xfrm>
          <a:prstGeom prst="rect">
            <a:avLst/>
          </a:prstGeom>
          <a:solidFill>
            <a:srgbClr val="12122E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28816" y="356616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incompleto, sem apresentação ou sem clareza técnica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256032" y="4297680"/>
            <a:ext cx="228600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429768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Coesão do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42032" y="4297680"/>
            <a:ext cx="196596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96896" y="429768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todo conta uma história coerente — as decisões de uma fase fundamentam a próxima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4507992" y="4297680"/>
            <a:ext cx="196596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2856" y="429768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produzidas mas com pouca integração entre si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473952" y="4297680"/>
            <a:ext cx="1965960" cy="685800"/>
          </a:xfrm>
          <a:prstGeom prst="rect">
            <a:avLst/>
          </a:prstGeom>
          <a:solidFill>
            <a:srgbClr val="0F0F2A"/>
          </a:solidFill>
          <a:ln w="3810">
            <a:solidFill>
              <a:srgbClr val="5A607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28816" y="429768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entrega trata o conteúdo isoladamente, sem conexão com o caso SatConnect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256032" y="5010912"/>
            <a:ext cx="8686800" cy="128016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5010912"/>
            <a:ext cx="8503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copiados ou sem identificação da equipe recebem nota zero · Plágio = reprovação na disciplina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006E"/>
          </a:solidFill>
          <a:ln w="12700">
            <a:solidFill>
              <a:srgbClr val="E800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457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0058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365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0" y="1188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114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3657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21040" y="3474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FF"/>
                </a:solidFill>
              </a:rPr>
              <a:t>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3200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🚀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57200" y="117043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1000" dirty="0">
                <a:solidFill>
                  <a:srgbClr val="E8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SORTE!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1371600" y="2761488"/>
            <a:ext cx="6400800" cy="27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2880360"/>
            <a:ext cx="5120640" cy="1600200"/>
          </a:xfrm>
          <a:prstGeom prst="rect">
            <a:avLst/>
          </a:prstGeom>
          <a:solidFill>
            <a:srgbClr val="0F0F2A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2880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 DO PROJETO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76272" y="3200400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Mapa de rede e dispositivos documentados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76272" y="3447288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Tabela de IP completa com cálculos demonstrados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76272" y="3694176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Mapa de protocolos + parecer de segurança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76272" y="3941064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Arquivo .pkt + prints de todos os testes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76272" y="4187952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Relatório PDF entregue + pitch preparado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Gabriel Arcanjo · FIAP · Network Architect Solutions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E6DD9329069546B6154DD8A0CB37AE" ma:contentTypeVersion="4" ma:contentTypeDescription="Crie um novo documento." ma:contentTypeScope="" ma:versionID="7eab7da878ce5aec0f33d511f4e84b6a">
  <xsd:schema xmlns:xsd="http://www.w3.org/2001/XMLSchema" xmlns:xs="http://www.w3.org/2001/XMLSchema" xmlns:p="http://schemas.microsoft.com/office/2006/metadata/properties" xmlns:ns2="91b8b49d-2c69-4439-9821-bbb259735c1c" targetNamespace="http://schemas.microsoft.com/office/2006/metadata/properties" ma:root="true" ma:fieldsID="15fc66d72cf225d881dd323aca35bcf2" ns2:_="">
    <xsd:import namespace="91b8b49d-2c69-4439-9821-bbb259735c1c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b8b49d-2c69-4439-9821-bbb259735c1c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91b8b49d-2c69-4439-9821-bbb259735c1c" xsi:nil="true"/>
  </documentManagement>
</p:properties>
</file>

<file path=customXml/itemProps1.xml><?xml version="1.0" encoding="utf-8"?>
<ds:datastoreItem xmlns:ds="http://schemas.openxmlformats.org/officeDocument/2006/customXml" ds:itemID="{AF30EECA-CE78-4B53-9B68-7FAD84B45356}"/>
</file>

<file path=customXml/itemProps2.xml><?xml version="1.0" encoding="utf-8"?>
<ds:datastoreItem xmlns:ds="http://schemas.openxmlformats.org/officeDocument/2006/customXml" ds:itemID="{99632CE1-6E93-4F4D-8066-DC9332D2584C}"/>
</file>

<file path=customXml/itemProps3.xml><?xml version="1.0" encoding="utf-8"?>
<ds:datastoreItem xmlns:ds="http://schemas.openxmlformats.org/officeDocument/2006/customXml" ds:itemID="{24DF827F-102B-4072-B13A-069E3C6BB9A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2227</Words>
  <Application>Microsoft Office PowerPoint</Application>
  <PresentationFormat>Apresentação na tela (16:9)</PresentationFormat>
  <Paragraphs>348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Integrador — SatConnect</dc:title>
  <dc:subject>PptxGenJS Presentation</dc:subject>
  <dc:creator>PptxGenJS</dc:creator>
  <cp:lastModifiedBy>Gabriel Boyczuk </cp:lastModifiedBy>
  <cp:revision>1</cp:revision>
  <dcterms:created xsi:type="dcterms:W3CDTF">2026-05-25T11:48:24Z</dcterms:created>
  <dcterms:modified xsi:type="dcterms:W3CDTF">2026-05-25T11:51:00Z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0x010100AFE6DD9329069546B6154DD8A0CB37AE</vt:lpwstr>
  </property>
</Properties>
</file>